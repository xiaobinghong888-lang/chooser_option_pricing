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ln>
            <a:solidFill>
              <a:srgbClr val="2457A6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19150"/>
            <a:ext cx="2095500" cy="57150"/>
          </a:xfrm>
          <a:prstGeom prst="rect">
            <a:avLst/>
          </a:prstGeom>
          <a:ln>
            <a:solidFill>
              <a:srgbClr val="178F8F"/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8953500" cy="1428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Advanced Chooser Option Pricing Model with Real-World Data and Machine Learning</a:t>
            </a:r>
            <a:endParaRPr sz="2550" b="1">
              <a:solidFill>
                <a:srgbClr val="1720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724150"/>
            <a:ext cx="5715000" cy="3429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650" b="1">
                <a:solidFill>
                  <a:srgbClr val="2457A6"/>
                </a:solidFill>
              </a:defRPr>
            </a:pPr>
            <a:r>
              <a:rPr sz="1650" b="1">
                <a:solidFill>
                  <a:srgbClr val="2457A6"/>
                </a:solidFill>
              </a:rPr>
              <a:t>Final Project Presentation</a:t>
            </a:r>
            <a:endParaRPr sz="1650" b="1">
              <a:solidFill>
                <a:srgbClr val="2457A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333750"/>
            <a:ext cx="7429500" cy="5715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5F6B7A"/>
                </a:solidFill>
              </a:defRPr>
            </a:pPr>
            <a:r>
              <a:rPr sz="1425" b="0">
                <a:solidFill>
                  <a:srgbClr val="5F6B7A"/>
                </a:solidFill>
              </a:rPr>
              <a:t>Baseline BSM chooser pricing, ML volatility forecasting, and interactive prototype development.</a:t>
            </a:r>
            <a:endParaRPr sz="1425" b="0">
              <a:solidFill>
                <a:srgbClr val="5F6B7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953250" y="4572000"/>
            <a:ext cx="3905250" cy="914400"/>
          </a:xfrm>
          <a:prstGeom prst="roundRect">
            <a:avLst>
              <a:gd name="adj" fmla="val 8333"/>
            </a:avLst>
          </a:prstGeom>
          <a:ln>
            <a:solidFill>
              <a:srgbClr val="D6DDE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953250" y="4572000"/>
            <a:ext cx="47625" cy="914400"/>
          </a:xfrm>
          <a:prstGeom prst="rect">
            <a:avLst/>
          </a:prstGeom>
          <a:ln>
            <a:solidFill>
              <a:srgbClr val="B8860B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124700" y="4724400"/>
            <a:ext cx="360045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Sigma-only ML enhancement is not enough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24700" y="5848350"/>
            <a:ext cx="360045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Core empirical lesson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1</a:t>
            </a:r>
            <a:endParaRPr sz="675" b="0">
              <a:solidFill>
                <a:srgbClr val="5F6B7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WHY THIS PROJECT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Project Objective and Motivation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2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619250"/>
            <a:ext cx="5334000" cy="2571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Chooser options let the holder choose later between call-like and put-like exposure.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They matter in structured products, hedging, and volatility-sensitive trading.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BSM gives a transparent baseline but depends heavily on the sigma input.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The project tests whether ML volatility forecasts improve pricing outcomes.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953250" y="1676400"/>
            <a:ext cx="342900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53250" y="1676400"/>
            <a:ext cx="47625" cy="876300"/>
          </a:xfrm>
          <a:prstGeom prst="rect">
            <a:avLst/>
          </a:prstGeom>
          <a:ln>
            <a:solidFill>
              <a:srgbClr val="2457A6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24700" y="1828800"/>
            <a:ext cx="312420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Improve forward-looking sigma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24700" y="2171700"/>
            <a:ext cx="312420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Objective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953250" y="2857500"/>
            <a:ext cx="342900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0" y="2857500"/>
            <a:ext cx="47625" cy="876300"/>
          </a:xfrm>
          <a:prstGeom prst="rect">
            <a:avLst/>
          </a:prstGeom>
          <a:ln>
            <a:solidFill>
              <a:srgbClr val="178F8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124700" y="3009900"/>
            <a:ext cx="312420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Does better volatility improve pricing?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124700" y="3352800"/>
            <a:ext cx="312420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Test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953250" y="4038600"/>
            <a:ext cx="342900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953250" y="4038600"/>
            <a:ext cx="47625" cy="876300"/>
          </a:xfrm>
          <a:prstGeom prst="rect">
            <a:avLst/>
          </a:prstGeom>
          <a:ln>
            <a:solidFill>
              <a:srgbClr val="B8860B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4191000"/>
            <a:ext cx="312420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Interactive local pricing prototype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24700" y="4533900"/>
            <a:ext cx="312420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Deliverable</a:t>
            </a:r>
            <a:endParaRPr sz="975" b="0">
              <a:solidFill>
                <a:srgbClr val="5F6B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BASELINE + CONTROLLED ML ENHANCEMENT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Pricing Framework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3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571625"/>
            <a:ext cx="5524500" cy="23812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Baseline: BSM chooser pricing with fixed strike, maturity, and chooser decision time.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Market inputs: risk-free rate, dividend yield, JPM price level, and volatility.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Baseline sigma uses historical-volatility style estimates.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ML improves sigma only; it does not replace the pricing formula.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57250" y="4476750"/>
            <a:ext cx="2000250" cy="666750"/>
          </a:xfrm>
          <a:prstGeom prst="roundRect">
            <a:avLst>
              <a:gd name="adj" fmla="val 11429"/>
            </a:avLst>
          </a:prstGeom>
          <a:ln>
            <a:solidFill>
              <a:srgbClr val="D6DDE8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4676775"/>
            <a:ext cx="1714500" cy="2667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Market data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5114925"/>
            <a:ext cx="2000250" cy="38100"/>
          </a:xfrm>
          <a:prstGeom prst="rect">
            <a:avLst/>
          </a:prstGeom>
          <a:ln>
            <a:solidFill>
              <a:srgbClr val="2457A6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28950" y="4667250"/>
            <a:ext cx="285750" cy="285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→</a:t>
            </a:r>
            <a:endParaRPr sz="1800" b="0">
              <a:solidFill>
                <a:srgbClr val="5F6B7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571875" y="4476750"/>
            <a:ext cx="2000250" cy="666750"/>
          </a:xfrm>
          <a:prstGeom prst="roundRect">
            <a:avLst>
              <a:gd name="adj" fmla="val 11429"/>
            </a:avLst>
          </a:prstGeom>
          <a:ln>
            <a:solidFill>
              <a:srgbClr val="D6DDE8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714750" y="4676775"/>
            <a:ext cx="1714500" cy="2667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Baseline / ML sigma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71875" y="5114925"/>
            <a:ext cx="2000250" cy="38100"/>
          </a:xfrm>
          <a:prstGeom prst="rect">
            <a:avLst/>
          </a:prstGeom>
          <a:ln>
            <a:solidFill>
              <a:srgbClr val="178F8F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43575" y="4667250"/>
            <a:ext cx="285750" cy="285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→</a:t>
            </a:r>
            <a:endParaRPr sz="1800" b="0">
              <a:solidFill>
                <a:srgbClr val="5F6B7A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286500" y="4476750"/>
            <a:ext cx="2000250" cy="666750"/>
          </a:xfrm>
          <a:prstGeom prst="roundRect">
            <a:avLst>
              <a:gd name="adj" fmla="val 11429"/>
            </a:avLst>
          </a:prstGeom>
          <a:ln>
            <a:solidFill>
              <a:srgbClr val="D6DDE8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29375" y="4676775"/>
            <a:ext cx="1714500" cy="2667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BSM chooser engine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86500" y="5114925"/>
            <a:ext cx="2000250" cy="38100"/>
          </a:xfrm>
          <a:prstGeom prst="rect">
            <a:avLst/>
          </a:prstGeom>
          <a:ln>
            <a:solidFill>
              <a:srgbClr val="B8860B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58200" y="4667250"/>
            <a:ext cx="285750" cy="285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→</a:t>
            </a:r>
            <a:endParaRPr sz="1800" b="0">
              <a:solidFill>
                <a:srgbClr val="5F6B7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001125" y="4476750"/>
            <a:ext cx="2000250" cy="666750"/>
          </a:xfrm>
          <a:prstGeom prst="roundRect">
            <a:avLst>
              <a:gd name="adj" fmla="val 11429"/>
            </a:avLst>
          </a:prstGeom>
          <a:ln>
            <a:solidFill>
              <a:srgbClr val="D6DDE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144000" y="4676775"/>
            <a:ext cx="1714500" cy="2667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Price comparison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01125" y="5114925"/>
            <a:ext cx="2000250" cy="38100"/>
          </a:xfrm>
          <a:prstGeom prst="rect">
            <a:avLst/>
          </a:prstGeom>
          <a:ln>
            <a:solidFill>
              <a:srgbClr val="B94B4B"/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REAL-WORLD DATA PIPELINE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Data and Feature Construction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4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562100"/>
            <a:ext cx="409575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562100"/>
            <a:ext cx="47625" cy="876300"/>
          </a:xfrm>
          <a:prstGeom prst="rect">
            <a:avLst/>
          </a:prstGeom>
          <a:ln>
            <a:solidFill>
              <a:srgbClr val="2457A6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1714500"/>
            <a:ext cx="379095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JPM · VIX · Treasury · option marks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257425"/>
            <a:ext cx="379095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Sources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2705100"/>
            <a:ext cx="409575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705100"/>
            <a:ext cx="47625" cy="876300"/>
          </a:xfrm>
          <a:prstGeom prst="rect">
            <a:avLst/>
          </a:prstGeom>
          <a:ln>
            <a:solidFill>
              <a:srgbClr val="178F8F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2857500"/>
            <a:ext cx="379095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Future 20D realized volatility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200400"/>
            <a:ext cx="379095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Target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3848100"/>
            <a:ext cx="4095750" cy="876300"/>
          </a:xfrm>
          <a:prstGeom prst="roundRect">
            <a:avLst>
              <a:gd name="adj" fmla="val 8696"/>
            </a:avLst>
          </a:prstGeom>
          <a:ln>
            <a:solidFill>
              <a:srgbClr val="D6DDE8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848100"/>
            <a:ext cx="47625" cy="876300"/>
          </a:xfrm>
          <a:prstGeom prst="rect">
            <a:avLst/>
          </a:prstGeom>
          <a:ln>
            <a:solidFill>
              <a:srgbClr val="B8860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4000500"/>
            <a:ext cx="3790950" cy="304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Train / validation / test workflow</a:t>
            </a:r>
            <a:endParaRPr sz="1800" b="1">
              <a:solidFill>
                <a:srgbClr val="17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343400"/>
            <a:ext cx="3790950" cy="361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75" b="0">
                <a:solidFill>
                  <a:srgbClr val="5F6B7A"/>
                </a:solidFill>
              </a:defRPr>
            </a:pPr>
            <a:r>
              <a:rPr sz="975" b="0">
                <a:solidFill>
                  <a:srgbClr val="5F6B7A"/>
                </a:solidFill>
              </a:rPr>
              <a:t>Split</a:t>
            </a:r>
            <a:endParaRPr sz="975" b="0">
              <a:solidFill>
                <a:srgbClr val="5F6B7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10250" y="1657350"/>
            <a:ext cx="4191000" cy="23812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Realized and rolling stock volatility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VIX returns and market-risk signals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Treasury-rate changes and momentum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Rolling JPM-VIX correlation features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810250" y="4667250"/>
            <a:ext cx="4000500" cy="685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350" b="0">
                <a:solidFill>
                  <a:srgbClr val="5F6B7A"/>
                </a:solidFill>
              </a:defRPr>
            </a:pPr>
            <a:r>
              <a:rPr sz="1350" b="0">
                <a:solidFill>
                  <a:srgbClr val="5F6B7A"/>
                </a:solidFill>
              </a:rPr>
              <a:t>Processed CSV outputs connect feature construction, ML training, pricing, diagnostics, and the prototype.</a:t>
            </a:r>
            <a:endParaRPr sz="1350" b="0">
              <a:solidFill>
                <a:srgbClr val="5F6B7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BASELINE ROBUSTNESS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Extreme-Scenario Summary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5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20694"/>
            <a:ext cx="5095875" cy="252126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06921"/>
            <a:ext cx="5095875" cy="2548807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23950" y="4819650"/>
            <a:ext cx="8382000" cy="7810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Volatility shock creates the largest price increase.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Rate-hike effect is smaller and negative.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Combined shock remains volatility-dominated.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5772150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5886450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chooser value is highly sensitive to volatility shocks.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NORMAL VS STRESS PERIODS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Regime Sensitivity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6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11802"/>
            <a:ext cx="4905375" cy="3034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1511802"/>
            <a:ext cx="4905375" cy="303429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23950" y="4914900"/>
            <a:ext cx="8382000" cy="685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Stress regimes amplify shock sensitivity.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Volatility remains the main repricing channel.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Baseline and ML-enhanced responses are structurally similar.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5810250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5924550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stress conditions raise both price levels and sensitivity.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MODEL SELECTION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Machine Learning Volatility Model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7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47750" y="1638300"/>
            <a:ext cx="6096000" cy="2095500"/>
          </a:xfrm>
          <a:prstGeom prst="roundRect">
            <a:avLst>
              <a:gd name="adj" fmla="val 2727"/>
            </a:avLst>
          </a:prstGeom>
          <a:ln>
            <a:solidFill>
              <a:srgbClr val="D6DDE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1771650"/>
            <a:ext cx="5753100" cy="2667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Tuned volatility model comparison</a:t>
            </a:r>
            <a:endParaRPr sz="1275" b="1">
              <a:solidFill>
                <a:srgbClr val="17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2152650"/>
            <a:ext cx="5867400" cy="454025"/>
          </a:xfrm>
          <a:prstGeom prst="rect">
            <a:avLst/>
          </a:prstGeom>
          <a:ln>
            <a:solidFill>
              <a:srgbClr val="F7F9FC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76350" y="2228850"/>
            <a:ext cx="304800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Model</a:t>
            </a:r>
            <a:endParaRPr sz="1050" b="1">
              <a:solidFill>
                <a:srgbClr val="1720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83430" y="2228850"/>
            <a:ext cx="103632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Test RMSE</a:t>
            </a:r>
            <a:endParaRPr sz="1050" b="1">
              <a:solidFill>
                <a:srgbClr val="17203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41670" y="2228850"/>
            <a:ext cx="109728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Test R2</a:t>
            </a:r>
            <a:endParaRPr sz="1050" b="1">
              <a:solidFill>
                <a:srgbClr val="17203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76350" y="2711450"/>
            <a:ext cx="304800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Best Random Forest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83430" y="2711450"/>
            <a:ext cx="103632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0.007784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41670" y="2711450"/>
            <a:ext cx="109728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0.8940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162050" y="3117850"/>
            <a:ext cx="5867400" cy="454025"/>
          </a:xfrm>
          <a:prstGeom prst="rect">
            <a:avLst/>
          </a:prstGeom>
          <a:ln>
            <a:solidFill>
              <a:srgbClr val="F7F9FC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276350" y="3194050"/>
            <a:ext cx="304800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Best Gradient Boosting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83430" y="3194050"/>
            <a:ext cx="103632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0.007206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41670" y="3194050"/>
            <a:ext cx="1097280" cy="3873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0.9091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810500" y="1676400"/>
            <a:ext cx="2857500" cy="819150"/>
          </a:xfrm>
          <a:prstGeom prst="roundRect">
            <a:avLst>
              <a:gd name="adj" fmla="val 9302"/>
            </a:avLst>
          </a:prstGeom>
          <a:ln>
            <a:solidFill>
              <a:srgbClr val="D6DDE8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58150" y="1847850"/>
            <a:ext cx="2333625" cy="2095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050" b="1">
                <a:solidFill>
                  <a:srgbClr val="5F6B7A"/>
                </a:solidFill>
              </a:defRPr>
            </a:pPr>
            <a:r>
              <a:rPr sz="1050" b="1">
                <a:solidFill>
                  <a:srgbClr val="5F6B7A"/>
                </a:solidFill>
              </a:rPr>
              <a:t>Final model</a:t>
            </a:r>
            <a:endParaRPr sz="1050" b="1">
              <a:solidFill>
                <a:srgbClr val="5F6B7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58150" y="2114550"/>
            <a:ext cx="2333625" cy="285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800" b="1">
                <a:solidFill>
                  <a:srgbClr val="2457A6"/>
                </a:solidFill>
              </a:defRPr>
            </a:pPr>
            <a:r>
              <a:rPr sz="1800" b="1">
                <a:solidFill>
                  <a:srgbClr val="2457A6"/>
                </a:solidFill>
              </a:rPr>
              <a:t>Gradient Boosting</a:t>
            </a:r>
            <a:endParaRPr sz="1800" b="1">
              <a:solidFill>
                <a:srgbClr val="2457A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2933700"/>
            <a:ext cx="3333750" cy="11239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Predict future realized volatility.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predicted sigma inside BSM.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Keep pricing formula interpretable.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143000" y="5334000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28750" y="5448300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ML improves the volatility input, not the pricing formula itself.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WHAT THE MODEL LEARNED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SHAP Model Interpretation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8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74" y="1428750"/>
            <a:ext cx="4546478" cy="3676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1558331"/>
            <a:ext cx="4905375" cy="3417489"/>
          </a:xfrm>
          <a:prstGeom prst="rect">
            <a:avLst/>
          </a:prstGeom>
        </p:spPr>
      </p:pic>
      <p:sp>
        <p:nvSpPr>
          <p:cNvPr id="10" name="圆角矩形 9"/>
          <p:cNvSpPr>
            <a:spLocks noGrp="1"/>
          </p:cNvSpPr>
          <p:nvPr/>
        </p:nvSpPr>
        <p:spPr>
          <a:xfrm>
            <a:off x="1143000" y="5638800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5753100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recent volatility-related variables dominate predictive power.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ML-ENHANCED BSM RESULTS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Benchmark Pricing Comparison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9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714741"/>
            <a:ext cx="5286375" cy="26093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590655"/>
            <a:ext cx="4619625" cy="285754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23950" y="4953000"/>
            <a:ext cx="8382000" cy="685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ML-enhanced sigma changes prices only modestly.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Benchmark error does not materially improve.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Pricing gap reflects more than realized-volatility forecasting.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5810250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5924550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better volatility forecasts do not automatically create better option prices.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WHY PRICING GAINS ARE LIMITED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Pricing Diagnostics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10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35919"/>
            <a:ext cx="4762500" cy="297656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1457325"/>
            <a:ext cx="4000500" cy="33337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123950" y="5095875"/>
            <a:ext cx="8382000" cy="628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Pricing improvements are mixed across observations.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Sigma gaps map mechanically into price gaps.</a:t>
            </a:r>
            <a:endParaRPr sz="1425" b="0">
              <a:solidFill>
                <a:srgbClr val="172033"/>
              </a:solidFill>
            </a:endParaRPr>
          </a:p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Most sigma adjustments are economically small.</a:t>
            </a:r>
            <a:endParaRPr sz="1425" b="0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5857875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5972175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Takeaway: sigma-only enhancement is too narrow for market pricing.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INTERACTIVE PRICING WORKFLOW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Prototype Tool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11</a:t>
            </a:r>
            <a:endParaRPr sz="675" b="0">
              <a:solidFill>
                <a:srgbClr val="5F6B7A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981" y="1409700"/>
            <a:ext cx="2523738" cy="4429125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572250" y="1695450"/>
            <a:ext cx="3905250" cy="19050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Latest loaded data</a:t>
            </a:r>
            <a:endParaRPr sz="1575" b="0">
              <a:solidFill>
                <a:srgbClr val="172033"/>
              </a:solidFill>
            </a:endParaRP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Dual baseline + ML pricing</a:t>
            </a:r>
            <a:endParaRPr sz="1575" b="0">
              <a:solidFill>
                <a:srgbClr val="172033"/>
              </a:solidFill>
            </a:endParaRP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Error margin summary</a:t>
            </a:r>
            <a:endParaRPr sz="1575" b="0">
              <a:solidFill>
                <a:srgbClr val="172033"/>
              </a:solidFill>
            </a:endParaRPr>
          </a:p>
          <a:p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Scenario checks + visualization dashboard</a:t>
            </a:r>
            <a:endParaRPr sz="1575" b="0">
              <a:solidFill>
                <a:srgbClr val="17203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4457700"/>
            <a:ext cx="4000500" cy="552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575" b="1">
                <a:solidFill>
                  <a:srgbClr val="2457A6"/>
                </a:solidFill>
              </a:defRPr>
            </a:pPr>
            <a:r>
              <a:rPr sz="1575" b="1">
                <a:solidFill>
                  <a:srgbClr val="2457A6"/>
                </a:solidFill>
              </a:rPr>
              <a:t>A usable prototype bridges analysis and applied decision support.</a:t>
            </a:r>
            <a:endParaRPr sz="1575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FF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6667500" cy="2476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900" b="1">
                <a:solidFill>
                  <a:srgbClr val="178F8F"/>
                </a:solidFill>
              </a:defRPr>
            </a:pPr>
            <a:r>
              <a:rPr sz="900" b="1">
                <a:solidFill>
                  <a:srgbClr val="178F8F"/>
                </a:solidFill>
              </a:rPr>
              <a:t>WHAT THE PROJECT SHOWS</a:t>
            </a:r>
            <a:endParaRPr sz="900" b="1">
              <a:solidFill>
                <a:srgbClr val="178F8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590550"/>
            <a:ext cx="8953500" cy="4953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Final Conclusions and Future Work</a:t>
            </a:r>
            <a:endParaRPr sz="2175" b="1">
              <a:solidFill>
                <a:srgbClr val="172033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162050"/>
            <a:ext cx="10287000" cy="19050"/>
          </a:xfrm>
          <a:prstGeom prst="rect">
            <a:avLst/>
          </a:prstGeom>
          <a:ln>
            <a:solidFill>
              <a:srgbClr val="D6DDE8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53200"/>
            <a:ext cx="47625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Advanced Chooser Option Pricing Model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34750" y="6553200"/>
            <a:ext cx="3429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r">
              <a:defRPr sz="675" b="0">
                <a:solidFill>
                  <a:srgbClr val="5F6B7A"/>
                </a:solidFill>
              </a:defRPr>
            </a:pPr>
            <a:r>
              <a:rPr sz="675" b="0">
                <a:solidFill>
                  <a:srgbClr val="5F6B7A"/>
                </a:solidFill>
              </a:rPr>
              <a:t>12</a:t>
            </a:r>
            <a:endParaRPr sz="675" b="0">
              <a:solidFill>
                <a:srgbClr val="5F6B7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1504950"/>
            <a:ext cx="5715000" cy="204787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Baseline chooser pricing workflow works.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Chooser value is strongly volatility-sensitive.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Gradient Boosting is the best volatility model.</a:t>
            </a:r>
            <a:endParaRPr sz="1500" b="0">
              <a:solidFill>
                <a:srgbClr val="172033"/>
              </a:solidFill>
            </a:endParaRPr>
          </a:p>
          <a:p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ML sigma does not materially improve benchmark pricing.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953250" y="1504950"/>
            <a:ext cx="3714750" cy="2476500"/>
          </a:xfrm>
          <a:prstGeom prst="roundRect">
            <a:avLst>
              <a:gd name="adj" fmla="val 3077"/>
            </a:avLst>
          </a:prstGeom>
          <a:ln>
            <a:solidFill>
              <a:srgbClr val="D6DDE8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1752600"/>
            <a:ext cx="3143250" cy="285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Future work</a:t>
            </a:r>
            <a:endParaRPr sz="1725" b="1">
              <a:solidFill>
                <a:srgbClr val="17203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0" y="2286000"/>
            <a:ext cx="2857500" cy="285750"/>
          </a:xfrm>
          <a:prstGeom prst="roundRect">
            <a:avLst>
              <a:gd name="adj" fmla="val 20000"/>
            </a:avLst>
          </a:prstGeom>
          <a:ln>
            <a:solidFill>
              <a:srgbClr val="D6DDE8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391400" y="2352675"/>
            <a:ext cx="25527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Implied-volatility features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239000" y="2686050"/>
            <a:ext cx="2857500" cy="285750"/>
          </a:xfrm>
          <a:prstGeom prst="roundRect">
            <a:avLst>
              <a:gd name="adj" fmla="val 20000"/>
            </a:avLst>
          </a:prstGeom>
          <a:ln>
            <a:solidFill>
              <a:srgbClr val="D6DDE8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391400" y="2752725"/>
            <a:ext cx="25527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Liquidity + microstructure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39000" y="3086100"/>
            <a:ext cx="2857500" cy="285750"/>
          </a:xfrm>
          <a:prstGeom prst="roundRect">
            <a:avLst>
              <a:gd name="adj" fmla="val 20000"/>
            </a:avLst>
          </a:prstGeom>
          <a:ln>
            <a:solidFill>
              <a:srgbClr val="D6DDE8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91400" y="3152775"/>
            <a:ext cx="25527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Hybrid correction models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39000" y="3486150"/>
            <a:ext cx="2857500" cy="285750"/>
          </a:xfrm>
          <a:prstGeom prst="roundRect">
            <a:avLst>
              <a:gd name="adj" fmla="val 20000"/>
            </a:avLst>
          </a:prstGeom>
          <a:ln>
            <a:solidFill>
              <a:srgbClr val="D6DDE8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391400" y="3552825"/>
            <a:ext cx="2552700" cy="1714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l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Live-data integration</a:t>
            </a:r>
            <a:endParaRPr sz="1125" b="0">
              <a:solidFill>
                <a:srgbClr val="172033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43000" y="5191125"/>
            <a:ext cx="9906000" cy="438150"/>
          </a:xfrm>
          <a:prstGeom prst="roundRect">
            <a:avLst>
              <a:gd name="adj" fmla="val 17391"/>
            </a:avLst>
          </a:prstGeom>
          <a:ln>
            <a:solidFill>
              <a:srgbClr val="D7E7FB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28750" y="5305425"/>
            <a:ext cx="9334500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anchor="t"/>
          <a:lstStyle/>
          <a:p>
            <a:pPr algn="ctr">
              <a:defRPr sz="1350" b="1">
                <a:solidFill>
                  <a:srgbClr val="2457A6"/>
                </a:solidFill>
              </a:defRPr>
            </a:pPr>
            <a:r>
              <a:rPr sz="1350" b="1">
                <a:solidFill>
                  <a:srgbClr val="2457A6"/>
                </a:solidFill>
              </a:rPr>
              <a:t>Central lesson: ML is useful, but sigma-only enhancement is too narrow.</a:t>
            </a:r>
            <a:endParaRPr sz="1350" b="1">
              <a:solidFill>
                <a:srgbClr val="2457A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4274</Words>
  <Application>WPS 演示</Application>
  <PresentationFormat>Converted Presentation</PresentationFormat>
  <Paragraphs>237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小海</cp:lastModifiedBy>
  <cp:revision>1</cp:revision>
  <dcterms:created xsi:type="dcterms:W3CDTF">2026-06-03T08:16:37Z</dcterms:created>
  <dcterms:modified xsi:type="dcterms:W3CDTF">2026-06-03T08:16:37Z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7A8B0F881D09AE8BE5E21F6A3E741165_43</vt:lpwstr>
  </property>
  <property fmtid="{D5CDD505-2E9C-101B-9397-08002B2CF9AE}" pid="3" name="KSOProductBuildVer">
    <vt:lpwstr>2052-12.1.25895.25895</vt:lpwstr>
  </property>
</Properties>
</file>